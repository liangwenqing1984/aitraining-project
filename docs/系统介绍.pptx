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招聘数据智能采集与分析系统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409EFF"/>
                </a:solidFill>
                <a:latin typeface="Microsoft YaHei"/>
              </a:defRPr>
            </a:pPr>
            <a:r>
              <a:t>AI-Powered Job Market Data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399"/>
                </a:solidFill>
                <a:latin typeface="Microsoft YaHei"/>
              </a:defRPr>
            </a:pPr>
            <a:r>
              <a:t>一站式招聘数据采集、AI 增强、智能分析与语义检索平台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6583680"/>
            <a:ext cx="941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版本 2.5.0  |  2026.05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03133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项目背景与痛点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为什么需要这个系统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32588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系统架构总览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1554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前后端 + 数据库 + 外部服务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33172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数据采集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智联/51job 双平台爬虫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233172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反爬对抗体系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603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WAF 检测 + IP 代理池 + 指纹伪装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333756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AI 数据增强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LLM 标准化 8 个维度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333756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291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智能分析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7 维度图表 + AI 洞察报告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434340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自然语言查询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Text-to-SQL 全流程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34340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297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RAG 语义搜索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5720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pgvector + Ollama 向量化</a:t>
            </a:r>
          </a:p>
        </p:txBody>
      </p:sp>
      <p:sp>
        <p:nvSpPr>
          <p:cNvPr id="28" name="Oval 27"/>
          <p:cNvSpPr/>
          <p:nvPr/>
        </p:nvSpPr>
        <p:spPr>
          <a:xfrm>
            <a:off x="731520" y="534924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LLM 任务路由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多模型智能调度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534924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/>
              <a:t>10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6355080"/>
            <a:ext cx="365760" cy="365760"/>
          </a:xfrm>
          <a:prstGeom prst="ellipse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rPr/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3035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rPr/>
              <a:t>简历人岗匹配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6309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技术栈与总结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55778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AI 全流程精准筛选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6583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前后端技术 + 未来展望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01  项目背景与痛点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2651760" cy="2377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1800" b="1">
                <a:solidFill>
                  <a:srgbClr val="F56C6C"/>
                </a:solidFill>
                <a:latin typeface="Microsoft YaHei"/>
              </a:defRPr>
            </a:pPr>
            <a:r>
              <a:t>🔍 数据获取难</a:t>
            </a:r>
          </a:p>
          <a:p>
            <a:pPr>
              <a:spcBef>
                <a:spcPts val="1200"/>
              </a:spcBef>
              <a:defRPr sz="1300">
                <a:solidFill>
                  <a:srgbClr val="303133"/>
                </a:solidFill>
                <a:latin typeface="Microsoft YaHei"/>
              </a:defRPr>
            </a:pPr>
            <a:r>
              <a:t>招聘网站反爬严格</a:t>
            </a:r>
            <a:br/>
            <a:r>
              <a:t>WAF/验证码/IP封锁层层设防</a:t>
            </a:r>
            <a:br/>
            <a:r>
              <a:t>手动采集效率低下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280160"/>
            <a:ext cx="2651760" cy="2377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1800" b="1">
                <a:solidFill>
                  <a:srgbClr val="F56C6C"/>
                </a:solidFill>
                <a:latin typeface="Microsoft YaHei"/>
              </a:defRPr>
            </a:pPr>
            <a:r>
              <a:t>📊 数据标准化难</a:t>
            </a:r>
          </a:p>
          <a:p>
            <a:pPr>
              <a:spcBef>
                <a:spcPts val="1200"/>
              </a:spcBef>
              <a:defRPr sz="1300">
                <a:solidFill>
                  <a:srgbClr val="303133"/>
                </a:solidFill>
                <a:latin typeface="Microsoft YaHei"/>
              </a:defRPr>
            </a:pPr>
            <a:r>
              <a:t>薪资格式千奇百怪</a:t>
            </a:r>
            <a:br/>
            <a:r>
              <a:t>"15K-20K·13薪"、"年薪30万"</a:t>
            </a:r>
            <a:br/>
            <a:r>
              <a:t>无法直接用于分析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59" y="1280160"/>
            <a:ext cx="2651760" cy="2377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1800" b="1">
                <a:solidFill>
                  <a:srgbClr val="F56C6C"/>
                </a:solidFill>
                <a:latin typeface="Microsoft YaHei"/>
              </a:defRPr>
            </a:pPr>
            <a:r>
              <a:t>🧠 分析深度不够</a:t>
            </a:r>
          </a:p>
          <a:p>
            <a:pPr>
              <a:spcBef>
                <a:spcPts val="1200"/>
              </a:spcBef>
              <a:defRPr sz="1300">
                <a:solidFill>
                  <a:srgbClr val="303133"/>
                </a:solidFill>
                <a:latin typeface="Microsoft YaHei"/>
              </a:defRPr>
            </a:pPr>
            <a:r>
              <a:t>只看薪资分布不够</a:t>
            </a:r>
            <a:br/>
            <a:r>
              <a:t>需要技能趋势、行业对比</a:t>
            </a:r>
            <a:br/>
            <a:r>
              <a:t>多维度交叉分析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19" y="1280160"/>
            <a:ext cx="2651760" cy="2377440"/>
          </a:xfrm>
          <a:prstGeom prst="roundRect">
            <a:avLst/>
          </a:prstGeom>
          <a:solidFill>
            <a:srgbClr val="FAFAFA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77800"/>
          <a:lstStyle/>
          <a:p>
            <a:pPr algn="ctr">
              <a:defRPr sz="1800" b="1">
                <a:solidFill>
                  <a:srgbClr val="F56C6C"/>
                </a:solidFill>
                <a:latin typeface="Microsoft YaHei"/>
              </a:defRPr>
            </a:pPr>
            <a:r>
              <a:t>🔎 精准搜索缺失</a:t>
            </a:r>
          </a:p>
          <a:p>
            <a:pPr>
              <a:spcBef>
                <a:spcPts val="1200"/>
              </a:spcBef>
              <a:defRPr sz="1300">
                <a:solidFill>
                  <a:srgbClr val="303133"/>
                </a:solidFill>
                <a:latin typeface="Microsoft YaHei"/>
              </a:defRPr>
            </a:pPr>
            <a:r>
              <a:t>关键词搜索太死板</a:t>
            </a:r>
            <a:br/>
            <a:r>
              <a:t>"后端开发"搜不到"Java工程师"</a:t>
            </a:r>
            <a:br/>
            <a:r>
              <a:t>语义相近但字面不同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Microsoft YaHei"/>
              </a:defRPr>
            </a:pPr>
            <a:r>
              <a:t>⬇  解决方案：构建一站式 AI 驱动的招聘数据平台，从采集到分析全链路自动化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572000"/>
            <a:ext cx="2651760" cy="1645920"/>
          </a:xfrm>
          <a:prstGeom prst="roundRect">
            <a:avLst/>
          </a:prstGeom>
          <a:solidFill>
            <a:srgbClr val="F0F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浏览器自动化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爬虫 + IP代理池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4572000"/>
            <a:ext cx="2651760" cy="1645920"/>
          </a:xfrm>
          <a:prstGeom prst="roundRect">
            <a:avLst/>
          </a:prstGeom>
          <a:solidFill>
            <a:srgbClr val="F0F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LLM 标准化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8 个维度增强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4572000"/>
            <a:ext cx="2651760" cy="1645920"/>
          </a:xfrm>
          <a:prstGeom prst="roundRect">
            <a:avLst/>
          </a:prstGeom>
          <a:solidFill>
            <a:srgbClr val="F0F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AI 生成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专业洞察报告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89719" y="4572000"/>
            <a:ext cx="2651760" cy="1645920"/>
          </a:xfrm>
          <a:prstGeom prst="roundRect">
            <a:avLst/>
          </a:prstGeom>
          <a:solidFill>
            <a:srgbClr val="F0F9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pgvector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语义向量搜索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02  系统架构总览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73152" cy="54864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09EFF"/>
                </a:solidFill>
                <a:latin typeface="Microsoft YaHei"/>
              </a:defRPr>
            </a:pPr>
            <a:r>
              <a:t>前端层 (Vue 3 + Element Plus)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数据采集 | 文件管理 | 智能分析 | 智能查询 | 语义搜索 | AI配置 | 系统管理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606040"/>
            <a:ext cx="73152" cy="54864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7C23A"/>
                </a:solidFill>
                <a:latin typeface="Microsoft YaHei"/>
              </a:defRPr>
            </a:pPr>
            <a:r>
              <a:t>API 网关 (Express + Socket.IO)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8775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REST API (60+ 端点) | WebSocket 实时推送 | JWT + OAuth2 认证 | RBAC 权限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599"/>
            <a:ext cx="73152" cy="54864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918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A23C"/>
                </a:solidFill>
                <a:latin typeface="Microsoft YaHei"/>
              </a:defRPr>
            </a:pPr>
            <a:r>
              <a:t>业务服务层 (20+ 个 Service)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3931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爬虫服务 | LLM 服务 | 分析服务 | RAG 服务 | 代理池服务 | 用户/角色/权限服务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709160"/>
            <a:ext cx="73152" cy="54864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6C6C"/>
                </a:solidFill>
                <a:latin typeface="Microsoft YaHei"/>
              </a:defRPr>
            </a:pPr>
            <a:r>
              <a:t>数据层 (PostgreSQL + pgvector)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9087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sp_tasks | sp_jobs | sp_job_enrichments | sp_job_embeddings | sp_llm_config | RBAC 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60720"/>
            <a:ext cx="73152" cy="54864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39495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Microsoft YaHei"/>
              </a:defRPr>
            </a:pPr>
            <a:r>
              <a:t>外部服务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742431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Playwright (浏览器) | Ollama (本地 LLM) | Python 训练脚本 (微调) | OAuth2 SSO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1188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⬅ Vite 代理转发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240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⬅ HTTP + WebSocket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291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⬅ better-sqlite3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343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⬅ pg + pgvector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5394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⬅ HTTP / SDK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核心功能总览 — 11 大模块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520440" cy="54864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7C23A"/>
                </a:solidFill>
                <a:latin typeface="Microsoft YaHei"/>
              </a:defRPr>
            </a:pPr>
            <a:r>
              <a:t>数据采集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智联/51job 双源</a:t>
            </a:r>
            <a:br/>
            <a:r>
              <a:t>IP 代理池自动切换</a:t>
            </a:r>
            <a:br/>
            <a:r>
              <a:t>WAF 智能绕过</a:t>
            </a:r>
            <a:br/>
            <a:r>
              <a:t>断点续传 + 重启恢复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188720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520440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09EFF"/>
                </a:solidFill>
                <a:latin typeface="Microsoft YaHei"/>
              </a:defRPr>
            </a:pPr>
            <a:r>
              <a:t>AI 数据增强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薪资标准化 8 维度</a:t>
            </a:r>
            <a:br/>
            <a:r>
              <a:t>技能/分类/行业提取</a:t>
            </a:r>
            <a:br/>
            <a:r>
              <a:t>LLM 批量处理</a:t>
            </a:r>
            <a:br/>
            <a:r>
              <a:t>幂等 UPSERT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88720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520440" cy="54864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37160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A23C"/>
                </a:solidFill>
                <a:latin typeface="Microsoft YaHei"/>
              </a:defRPr>
            </a:pPr>
            <a:r>
              <a:t>智能分析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7 维度可视化图表</a:t>
            </a:r>
            <a:br/>
            <a:r>
              <a:t>AI 生成洞察报告</a:t>
            </a:r>
            <a:br/>
            <a:r>
              <a:t>ECharts 交互渲染</a:t>
            </a:r>
            <a:br/>
            <a:r>
              <a:t>历史报告管理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77639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77639"/>
            <a:ext cx="3520440" cy="54864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6C6C"/>
                </a:solidFill>
                <a:latin typeface="Microsoft YaHei"/>
              </a:defRPr>
            </a:pPr>
            <a:r>
              <a:t>自然语言查询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177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中文问题 → SQL</a:t>
            </a:r>
            <a:br/>
            <a:r>
              <a:t>安全白名单校验</a:t>
            </a:r>
            <a:br/>
            <a:r>
              <a:t>LLM 结果总结</a:t>
            </a:r>
            <a:br/>
            <a:r>
              <a:t>查询历史回顾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977639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3977639"/>
            <a:ext cx="3520440" cy="54864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1605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B59B6"/>
                </a:solidFill>
                <a:latin typeface="Microsoft YaHei"/>
              </a:defRPr>
            </a:pPr>
            <a:r>
              <a:t>RAG 语义搜索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6177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768 维向量索引</a:t>
            </a:r>
            <a:br/>
            <a:r>
              <a:t>余弦相似度匹配</a:t>
            </a:r>
            <a:br/>
            <a:r>
              <a:t>查询自动扩展</a:t>
            </a:r>
            <a:br/>
            <a:r>
              <a:t>pgvector IVFFlat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3977639"/>
            <a:ext cx="3520440" cy="2514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E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3977639"/>
            <a:ext cx="3520440" cy="54864"/>
          </a:xfrm>
          <a:prstGeom prst="rect">
            <a:avLst/>
          </a:prstGeom>
          <a:solidFill>
            <a:srgbClr val="00B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B8BA"/>
                </a:solidFill>
                <a:latin typeface="Microsoft YaHei"/>
              </a:defRPr>
            </a:pPr>
            <a:r>
              <a:t>IP 代理池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617720"/>
            <a:ext cx="3063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11 个免费代理源</a:t>
            </a:r>
            <a:br/>
            <a:r>
              <a:t>checkHealth 实时验证</a:t>
            </a:r>
            <a:br/>
            <a:r>
              <a:t>死代理自动淘汰</a:t>
            </a:r>
            <a:br/>
            <a:r>
              <a:t>支持扩展付费源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03  数据采集 — 双平台爬虫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539496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7C23A"/>
                </a:solidFill>
                <a:latin typeface="Microsoft YaHei"/>
              </a:defRPr>
            </a:pPr>
            <a:r>
              <a:t>智联招聘 (zhilian.ts)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搜索 URL 查询参数编码 (?jl=622&amp;kw=XX) 规避路径特征检测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21 项 Chrome 启动参数 + 随机视口 + UA 轮换池 (4 种)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独立 userDataDir 隔离会话 + 资源拦截保留 CSS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详情页 axios API 直连优先 → 代理 → 浏览器渲染三级回退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WAF 空 body 检测 → 代理切换 → 降级串行 + 5-10s 大延迟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互斥锁序列化 newPage + Promise.allSettled 最高并发 5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每 5 组合主动重启浏览器刷新指纹 + 指数退避崩溃恢复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39496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A23C"/>
                </a:solidFill>
                <a:latin typeface="Microsoft YaHei"/>
              </a:defRPr>
            </a:pPr>
            <a:r>
              <a:t>前程无忧 (job51.ts)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puppeteer-extra + StealthPlugin 专业反检测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每页独立指纹：视口/UA/plugins/chrome/permissions 伪造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XHR 拦截主力提取 (we.51job.com/api/job/search-pc)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WAF 双重防线：硬编码 5 类签名 (零延迟) + AI 页面分类 (语义)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三级 WAF 恢复：重载(10s) → 长等(45-90s) → 首页回退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关键参数 reportType=1 (业务报表绕过 Aliyun WAF)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首次访问前首页 Cookie 建立 (3-7s 停留 + 滚动)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0352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440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对比总结：智联核心在 API 直连逃逸 WAF，51job 核心在 XHR 拦截 + 双重 WAF 检测 + reportType=1 参数绕过。两者均支持断点续传 (JSONB) + 最大 10 次浏览器重启。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04  反爬对抗体系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74320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🖥️ 浏览器层伪装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随机视口 1366-1920×768-1080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UA 轮换池 4 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独立 userDataDir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06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21 项 Chrome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每页独立指纹 (plugins/chrome)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46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puppeteer-extra StealthPlugin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097280"/>
            <a:ext cx="274320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🕐 类人行为模拟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分级延迟 2-10s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渐进式懒加载滚动 (8次×800ms)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批次间隔 8-10s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606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首页 Cookie 建立 (停留+滚动)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批次内错峰 0.8-2s 偏移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097280"/>
            <a:ext cx="2743200" cy="45720"/>
          </a:xfrm>
          <a:prstGeom prst="rect">
            <a:avLst/>
          </a:prstGeom>
          <a:solidFill>
            <a:srgbClr val="F56C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🛡️ WAF 检测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AI 页面分类 6 种类型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硬编码签名检测 (零延迟)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智联：API 直连逃逸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06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51job：reportType=1 绕过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5s 冷却防高频 LLM 调用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097280"/>
            <a:ext cx="2743200" cy="457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2344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🔄 恢复策略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16459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51job 三级恢复：重载→长等→回退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9659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智联：代理切换→降级串行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2860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指数退避 30s×2ⁿ (上限120s)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2606039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浏览器崩溃断点续传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92608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• 最大 10 次重启保护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93192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690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协同架构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proxy_pool :5010  ─→  ProxyPool.getProxy()  ─→  checkHealth(zhaopin.com/51job.com)  ─→  浏览器 --proxy-server</a:t>
            </a:r>
            <a:br/>
            <a:r>
              <a:t>                                                                              ↓ 失败</a:t>
            </a:r>
            <a:br/>
            <a:r>
              <a:t>                                                                   deleteProxy() → 换新代理</a:t>
            </a:r>
            <a:br/>
            <a:r>
              <a:t>                                                                  池耗尽 → 直连降级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05  AI 数据增强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💰 薪资标准化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15K-20K·13薪</a:t>
            </a:r>
            <a:br/>
            <a:r>
              <a:t>→ 15000-20000/月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37560" y="10972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🏷️ 职位分类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14大类+子类</a:t>
            </a:r>
            <a:br/>
            <a:r>
              <a:t>技术→后端开发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🏭 行业识别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互联网/金融/制造</a:t>
            </a:r>
            <a:br/>
            <a:r>
              <a:t>等 14 类标准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98280" y="10972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🔧 技能提取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必备+加分分离</a:t>
            </a:r>
            <a:br/>
            <a:r>
              <a:t>技术栈关联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🎓 学历规范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5 级归一化</a:t>
            </a:r>
            <a:br/>
            <a:r>
              <a:t>本科/硕士/博士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29260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📅 经验年限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3-5年→3-5</a:t>
            </a:r>
            <a:br/>
            <a:r>
              <a:t>应届→0-1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9260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🎁 福利识别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五险一金/年终奖</a:t>
            </a:r>
            <a:br/>
            <a:r>
              <a:t>关键词识别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2926080"/>
            <a:ext cx="2651760" cy="1600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🏠 工作模式</a:t>
            </a:r>
          </a:p>
          <a:p>
            <a:pPr>
              <a:spcBef>
                <a:spcPts val="4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远程/现场/混合</a:t>
            </a:r>
            <a:br/>
            <a:r>
              <a:t>三分类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93776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技术特点：BATCH_SIZE=1 逐条处理 + 500ms 间隔避免 API 限流  |  3 次重试 + 递增 temperature 提高成功率</a:t>
            </a:r>
            <a:br/>
            <a:r>
              <a:t>3 层降级 JSON 解析 (直接解析 → 正则提取 → 单引号修复)  |  ON CONFLICT UPSERT 幂等可重跑</a:t>
            </a:r>
            <a:br/>
            <a:r>
              <a:t>WebSocket 实时推送增强进度  |  支持多模型路由 (enrichment 任务类型)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06  智能分析与洞察报告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7 维度数据可视化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薪资分布 (箱线图/柱状图)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55448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城市分布 (饼图/地图)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55448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学历要求分布 (柱状图)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55448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经验要求分布 (柱状图)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5740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行业分布 (饼图)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05740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技能词云 (云图)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2057400"/>
            <a:ext cx="1828800" cy="384048"/>
          </a:xfrm>
          <a:prstGeom prst="roundRect">
            <a:avLst/>
          </a:prstGeom>
          <a:solidFill>
            <a:srgbClr val="FDF6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E6A23C"/>
                </a:solidFill>
                <a:latin typeface="Microsoft YaHei"/>
              </a:defRPr>
            </a:pPr>
            <a:r>
              <a:t>工作模式 (饼图)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926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AI 洞察报告生成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9184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1. 从 job_enrichments 聚合多维度统计数据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2. 注入 LLM Prompt 模板，含完整统计表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3. LLM 返回结构化 JSON：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   { title, summary, sections[{heading, body, key_findings}] }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4. charts_config 为 ECharts option 对象，前端直接渲染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5. 失败降级：JSON 解析失败 → 正则提取 Markdown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09728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09399"/>
                </a:solidFill>
                <a:latin typeface="Microsoft YaHei"/>
              </a:defRPr>
            </a:pPr>
            <a:r>
              <a:t>数据流</a:t>
            </a:r>
            <a:br/>
            <a:br/>
            <a:r>
              <a:t>sp_job_enrichments</a:t>
            </a:r>
            <a:br/>
            <a:r>
              <a:t>    ↓ SQL 聚合</a:t>
            </a:r>
            <a:br/>
            <a:r>
              <a:t>薪资/城市/技能/行业</a:t>
            </a:r>
            <a:br/>
            <a:r>
              <a:t>学历/经验/模式 统计</a:t>
            </a:r>
            <a:br/>
            <a:r>
              <a:t>    ↓ LLM Prompt</a:t>
            </a:r>
            <a:br/>
            <a:r>
              <a:t>结构化 JSON</a:t>
            </a:r>
            <a:br/>
            <a:r>
              <a:t>    ↓ 解析 + 入库</a:t>
            </a:r>
            <a:br/>
            <a:r>
              <a:t>sp_market_reports</a:t>
            </a:r>
            <a:br/>
            <a:r>
              <a:t>    ↓ WebSocket</a:t>
            </a:r>
            <a:br/>
            <a:r>
              <a:t>前端 ECharts 渲染</a:t>
            </a:r>
            <a:br/>
            <a:r>
              <a:t>Markdown 报告展示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07  自然语言查询 (Text-to-SQL)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用户输入：  "北京 Java 岗位薪资 20K 以上的有哪些" </a:t>
            </a:r>
            <a:br/>
            <a:r>
              <a:t>                    ↓</a:t>
            </a:r>
            <a:br/>
            <a:r>
              <a:t>① 意图解析：LLM 提取实体 (Java/北京/20K) + 聚合目标</a:t>
            </a:r>
            <a:br/>
            <a:r>
              <a:t>② Schema 注入：System Prompt 含 job_enrichments 完整表结构 (字段/类型/枚举值)</a:t>
            </a:r>
            <a:br/>
            <a:r>
              <a:t>③ SQL 生成：LLM 输出 PostgreSQL 查询 (SELECT/JOIN/GROUP BY/子查询)</a:t>
            </a:r>
            <a:br/>
            <a:r>
              <a:t>④ 安全校验：白名单正则 — 仅允许 SELECT，拦截 DROP/INSERT；自动 LIMIT 500</a:t>
            </a:r>
            <a:br/>
            <a:r>
              <a:t>⑤ 执行查询：pool.query(sql) 参数化执行</a:t>
            </a:r>
            <a:br/>
            <a:r>
              <a:t>⑥ 结果总结：LLM 用 2-3 句中文总结关键数值和趋势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47472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快捷示例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"薪资最高的 10 个岗位是哪些？"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262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"各城市 Java 岗位平均薪资对比"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"本科学历要求的岗位有多少个？"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"互联网行业平均薪资范围"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"哈尔滨和沈阳前端岗位数量和薪资对比"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6C6C"/>
                </a:solidFill>
                <a:latin typeface="Microsoft YaHei"/>
              </a:defRPr>
            </a:pPr>
            <a:r>
              <a:t>安全白名单机制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11480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仅允许 SELECT/WITH 语句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拦截 INSERT/DROP/TRUNCATE/DELETE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自动追加 LIMIT 500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多语句分号截断防护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saved_queries 持久化历史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08  RAG 语义搜索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03133"/>
                </a:solidFill>
                <a:latin typeface="Microsoft YaHei"/>
              </a:defRPr>
            </a:pPr>
            <a:r>
              <a:t>完整流水线</a:t>
            </a:r>
            <a:br/>
            <a:br/>
            <a:r>
              <a:t>sp_job_enrichments (AI增强后结构化数据)</a:t>
            </a:r>
            <a:br/>
            <a:r>
              <a:t>        ↓  buildJobText() — 拼接职位名/公司/城市/技能/行业为自然语言段落</a:t>
            </a:r>
            <a:br/>
            <a:r>
              <a:t>  "职位名称：Java高级工程师；公司：X科技；城市：北京；技能：Java, Spring, MySQL"</a:t>
            </a:r>
            <a:br/>
            <a:r>
              <a:t>        ↓  Ollama nomic-embed-text → 768 维浮点向量 (POST /api/embeddings)</a:t>
            </a:r>
            <a:br/>
            <a:r>
              <a:t>        ↓  INSERT INTO sp_job_embeddings (embedding) VALUES ($1::vector)</a:t>
            </a:r>
            <a:br/>
            <a:r>
              <a:t>        ↓  IVFFlat 索引 (100 lists, cosine_ops) — 近似搜索比全量 KNN 快 10-100 倍</a:t>
            </a:r>
            <a:br/>
            <a:r>
              <a:t>semanticSearch() → 1 - (embedding &lt;=&gt; query) = 余弦相似度 (0-1) → ORDER BY similarity DESC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84048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查询扩展 (Query Expansion)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短查询 (≤10字符) 自动触发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30+ 术语映射表：Java → "Java开发 Spring 微服务"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前端 → "Vue React Web前端 网页开发"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解决短查询语义稀疏问题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长查询 (&gt;10字符) 不做扩展，保留原意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0233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关键参数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38912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模型：nomic-embed-text (768维)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存储：pgvector vector(768)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索引：IVFFlat 100 lists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相似度：默认阈值 0.3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间隔：200ms 避免 Ollama 过载</a:t>
            </a:r>
          </a:p>
          <a:p>
            <a:pPr>
              <a:spcAft>
                <a:spcPts val="400"/>
              </a:spcAft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• 幂等：ON CONFLICT UPSERT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09  LLM 任务路由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03133"/>
                </a:solidFill>
                <a:latin typeface="Microsoft YaHei"/>
              </a:defRPr>
            </a:pPr>
            <a:r>
              <a:t>系统支持同时配置多个 AI 模型，6 种任务类型自动选择对应模型。核心机制：每个 LLM 配置维护 task_routing JSONB 数组，声明该模型可处理哪些任务。内置 CloudProvider (OpenAI/Anthropic/DeepSeek/智谱) 和 LocalProvider (Ollama) 两套适配器。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737360"/>
            <a:ext cx="274320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enrichment</a:t>
            </a:r>
            <a:br/>
            <a:r>
              <a:t>数据增强</a:t>
            </a:r>
          </a:p>
          <a:p>
            <a:pPr>
              <a:spcBef>
                <a:spcPts val="6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推荐：DeepSeek / Ollama</a:t>
            </a:r>
          </a:p>
          <a:p>
            <a:pPr>
              <a:spcBef>
                <a:spcPts val="400"/>
              </a:spcBef>
              <a:defRPr sz="1100">
                <a:solidFill>
                  <a:srgbClr val="303133"/>
                </a:solidFill>
                <a:latin typeface="Microsoft YaHei"/>
              </a:defRPr>
            </a:pPr>
            <a:r>
              <a:t>逐条标准化职位数据</a:t>
            </a:r>
            <a:br/>
            <a:r>
              <a:t>批量处理，成本敏感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737360"/>
            <a:ext cx="274320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insights</a:t>
            </a:r>
            <a:br/>
            <a:r>
              <a:t>智能洞察</a:t>
            </a:r>
          </a:p>
          <a:p>
            <a:pPr>
              <a:spcBef>
                <a:spcPts val="6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推荐：DeepSeek / GPT-4o</a:t>
            </a:r>
          </a:p>
          <a:p>
            <a:pPr>
              <a:spcBef>
                <a:spcPts val="400"/>
              </a:spcBef>
              <a:defRPr sz="1100">
                <a:solidFill>
                  <a:srgbClr val="303133"/>
                </a:solidFill>
                <a:latin typeface="Microsoft YaHei"/>
              </a:defRPr>
            </a:pPr>
            <a:r>
              <a:t>聚合统计 + 生成报告</a:t>
            </a:r>
            <a:br/>
            <a:r>
              <a:t>强推理，长文输出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274320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query</a:t>
            </a:r>
            <a:br/>
            <a:r>
              <a:t>NL 查询</a:t>
            </a:r>
          </a:p>
          <a:p>
            <a:pPr>
              <a:spcBef>
                <a:spcPts val="6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推荐：DeepSeek / 智谱 GLM</a:t>
            </a:r>
          </a:p>
          <a:p>
            <a:pPr>
              <a:spcBef>
                <a:spcPts val="400"/>
              </a:spcBef>
              <a:defRPr sz="1100">
                <a:solidFill>
                  <a:srgbClr val="303133"/>
                </a:solidFill>
                <a:latin typeface="Microsoft YaHei"/>
              </a:defRPr>
            </a:pPr>
            <a:r>
              <a:t>自然语言 → SQL</a:t>
            </a:r>
            <a:br/>
            <a:r>
              <a:t>中文 NLU 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737360"/>
            <a:ext cx="2743200" cy="1828800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tIns="101600"/>
          <a:lstStyle/>
          <a:p>
            <a:pPr algn="ctr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anti-crawl</a:t>
            </a:r>
            <a:br/>
            <a:r>
              <a:t>反爬检测</a:t>
            </a:r>
          </a:p>
          <a:p>
            <a:pPr>
              <a:spcBef>
                <a:spcPts val="600"/>
              </a:spcBef>
              <a:defRPr sz="1100">
                <a:solidFill>
                  <a:srgbClr val="909399"/>
                </a:solidFill>
                <a:latin typeface="Microsoft YaHei"/>
              </a:defRPr>
            </a:pPr>
            <a:r>
              <a:t>推荐：Ollama qwen3:4b</a:t>
            </a:r>
          </a:p>
          <a:p>
            <a:pPr>
              <a:spcBef>
                <a:spcPts val="400"/>
              </a:spcBef>
              <a:defRPr sz="1100">
                <a:solidFill>
                  <a:srgbClr val="303133"/>
                </a:solidFill>
                <a:latin typeface="Microsoft YaHei"/>
              </a:defRPr>
            </a:pPr>
            <a:r>
              <a:t>页面分类 + 选择器推荐</a:t>
            </a:r>
            <a:br/>
            <a:r>
              <a:t>低延迟 (&lt;1s)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03133"/>
                </a:solidFill>
                <a:latin typeface="Microsoft YaHei"/>
              </a:defRPr>
            </a:pPr>
            <a:r>
              <a:t>路由选择逻辑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062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getConfigForTask(taskType)</a:t>
            </a:r>
            <a:br/>
            <a:r>
              <a:t>  ├─ refreshConfigCache() → 从 sp_llm_config 加载 active 配置 (60s 缓存)</a:t>
            </a:r>
            <a:br/>
            <a:r>
              <a:t>  ├─ 遍历 configs，检查 taskRouting JSONB 数组是否包含 taskType</a:t>
            </a:r>
            <a:br/>
            <a:r>
              <a:t>  ├─ 返回首个匹配 → 初始化 Provider (CloudProvider / LocalProvider)</a:t>
            </a:r>
            <a:br/>
            <a:r>
              <a:t>  └─ 无匹配 → 兜底返回第一个 active 配置 (保证始终有可用模型)</a:t>
            </a:r>
            <a:br/>
            <a:br/>
            <a:r>
              <a:t>API Key 加密：AES-256-GCM 加密存储，格式自动检测 (isEncrypted 正则)，明文 Key 首次使用自动升级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IP 代理池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03133"/>
                </a:solidFill>
                <a:latin typeface="Microsoft YaHei"/>
              </a:defRPr>
            </a:pPr>
            <a:r>
              <a:t>外部 proxy_pool (jhao104) :5010         本项目 ProxyPool 类                   爬虫使用</a:t>
            </a:r>
            <a:br/>
            <a:r>
              <a:t>┌──────────────────────┐       ┌──────────────────────┐       ┌──────────────────┐</a:t>
            </a:r>
            <a:br/>
            <a:r>
              <a:t>│ GET /get/ → 随机代理  │  ───→ │ getProxy() + checkHealth │  ───→ │ 智联: --proxy-server│</a:t>
            </a:r>
            <a:br/>
            <a:r>
              <a:t>│ GET /delete/ → 删除   │  ←─── │ deleteProxy()         │       │ 51job: axios 回退  │</a:t>
            </a:r>
            <a:br/>
            <a:r>
              <a:t>│ GET /count → 代理总数  │       │ 连续 5 次失败停止返回   │       │ deadProxyCache    │</a:t>
            </a:r>
            <a:br/>
            <a:r>
              <a:t>└──────────────────────┘       └──────────────────────┘       └──────────────────┘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11 个免费代理源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站大爷 (zdaye.com) — HTML xpath 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66代理 (66ip.cn) — xpath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27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开心代理 (kxdaili.com) — xpath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27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FreeProxyList — URL解码+正则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838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快代理 (kuaidaili.com) — xpath 多页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4838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冰凌代理 (binglx.cn) — 更新最快 ★★★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739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云代理 (ip3366.net) — 正则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73989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小幻代理 (ip.ihuan.me) — 正则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959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免费代理库 (jiangxianli.com)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99592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89免费代理 (89ip.cn) — 正则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51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03133"/>
                </a:solidFill>
                <a:latin typeface="Microsoft YaHei"/>
              </a:defRPr>
            </a:pPr>
            <a:r>
              <a:t>• 稻壳代理 (docip.net) — JSON API 可用率最高 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5603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03133"/>
                </a:solidFill>
                <a:latin typeface="Microsoft YaHei"/>
              </a:defRPr>
            </a:pPr>
            <a:r>
              <a:t>关键机制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7180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checkHealth() 实时验证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8s 超时 + 不跟随重定向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仅 2xx 视为可用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最多重试 3 次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死代理自动淘汰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ERR_TUNNEL_CONNECTION_FAILED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deleteProxy() 从池中删除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deadProxyCache Set 黑名单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降级直连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代理池耗尽 → 浏览器直连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• 切换次数达上限 → 直连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扩展付费代理只需两步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1. proxyFetcher.py 添加 @staticmethod</a:t>
            </a:r>
          </a:p>
          <a:p>
            <a:pPr>
              <a:spcAft>
                <a:spcPts val="400"/>
              </a:spcAft>
              <a:defRPr sz="1100" b="0">
                <a:solidFill>
                  <a:srgbClr val="303133"/>
                </a:solidFill>
                <a:latin typeface="Microsoft YaHei"/>
              </a:defRPr>
            </a:pPr>
            <a:r>
              <a:t>  2. setting.py PROXY_FETCHER 注册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03133"/>
                </a:solidFill>
                <a:latin typeface="Microsoft YaHei"/>
              </a:defRPr>
            </a:pPr>
            <a:r>
              <a:t>10  技术栈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103120" cy="45720"/>
          </a:xfrm>
          <a:prstGeom prst="rect">
            <a:avLst/>
          </a:prstGeom>
          <a:solidFill>
            <a:srgbClr val="67C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7C23A"/>
                </a:solidFill>
                <a:latin typeface="Microsoft YaHei"/>
              </a:defRPr>
            </a:pPr>
            <a:r>
              <a:t>前端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Vue 3 (Composition API)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Element 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39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Pinia 状态管理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32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Vue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24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ECharts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Socket.IO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101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Axios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027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9534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marked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88920" y="1005840"/>
            <a:ext cx="2103120" cy="45720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9EFF"/>
                </a:solidFill>
                <a:latin typeface="Microsoft YaHei"/>
              </a:defRPr>
            </a:pPr>
            <a:r>
              <a:t>后端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554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Node.js + Express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TypeScript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2139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Playwright (浏览器自动化)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2432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Socket.IO (WebSocket)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724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ExcelJS (Excel 读写)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30175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better-sqlite3 / 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3101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AES-256-GCM 加密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360273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bcryptjs 密码哈希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20640" y="1005840"/>
            <a:ext cx="2103120" cy="45720"/>
          </a:xfrm>
          <a:prstGeom prst="rect">
            <a:avLst/>
          </a:prstGeom>
          <a:solidFill>
            <a:srgbClr val="E6A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A23C"/>
                </a:solidFill>
                <a:latin typeface="Microsoft YaHei"/>
              </a:defRPr>
            </a:pPr>
            <a:r>
              <a:t>数据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9" y="1554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PostgreSQL (SeaboxSQL)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79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pgvector 向量扩展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79" y="2139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Redis (代理池存储)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12079" y="2432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JSONB 灵活配置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2724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IVFFlat 向量索引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452359" y="1005840"/>
            <a:ext cx="2103120" cy="457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59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59B6"/>
                </a:solidFill>
                <a:latin typeface="Microsoft YaHei"/>
              </a:defRPr>
            </a:pPr>
            <a:r>
              <a:t>AI / LLM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799" y="1554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DeepSeek v4-pro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799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OpenAI GPT-4o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43799" y="2139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Ollama (本地推理)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43799" y="2432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智谱 GLM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43799" y="2724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Anthropic Claude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799" y="301752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nomic-embed-text (768维)
• 自训练 position-embed-model
• sentence-transformers
• Python 微调训练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784080" y="1005840"/>
            <a:ext cx="2103120" cy="45720"/>
          </a:xfrm>
          <a:prstGeom prst="rect">
            <a:avLst/>
          </a:prstGeom>
          <a:solidFill>
            <a:srgbClr val="00B8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84080" y="1143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8BA"/>
                </a:solidFill>
                <a:latin typeface="Microsoft YaHei"/>
              </a:defRPr>
            </a:pPr>
            <a:r>
              <a:t>运维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19" y="155448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PM2 进程管理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184708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Nginx 反向代理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19" y="21396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Python 训练脚本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19" y="243230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OAuth2 统一认证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75519" y="2724912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03133"/>
                </a:solidFill>
                <a:latin typeface="Microsoft YaHei"/>
              </a:defRPr>
            </a:pPr>
            <a:r>
              <a:t>• 定时备份 (pg_dump)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389120"/>
            <a:ext cx="11064240" cy="27432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526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03133"/>
                </a:solidFill>
                <a:latin typeface="Microsoft YaHei"/>
              </a:defRPr>
            </a:pPr>
            <a:r>
              <a:t>数据库 23 张表：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48463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399"/>
                </a:solidFill>
                <a:latin typeface="Microsoft YaHei"/>
              </a:defRPr>
            </a:pPr>
            <a:r>
              <a:t>业务表: sp_tasks | sp_csv_files | sp_jobs | sp_job_enrichments | sp_market_reports | sp_saved_queries
sp_job_embeddings | sp_llm_config | sp_resumes | sp_internal_jobs | sp_screening_results | sp_prompts
sp_doc_embeddings | sp_chat_sessions | sp_chat_messages | sp_training_jobs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0749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09399"/>
                </a:solidFill>
                <a:latin typeface="Microsoft YaHei"/>
              </a:defRPr>
            </a:pPr>
            <a:r>
              <a:t>RBAC表: sp_users | sp_roles | sp_permissions | sp_menus | sp_user_roles | sp_role_permissions | sp_role_menus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9EFF"/>
                </a:solidFill>
                <a:latin typeface="Microsoft YaHei"/>
              </a:defRPr>
            </a:pPr>
            <a:r>
              <a:t>── 核心数据 ──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4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服务模块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数据库表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代理源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增强维度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分析图表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任务路由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52760" y="182880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52760" y="23317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09399"/>
                </a:solidFill>
                <a:latin typeface="Microsoft YaHei"/>
              </a:defRPr>
            </a:pPr>
            <a:r>
              <a:t>爬虫平台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2743200"/>
            <a:ext cx="10698480" cy="18288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29260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7C23A"/>
                </a:solidFill>
                <a:latin typeface="Microsoft YaHei"/>
              </a:defRPr>
            </a:pPr>
            <a:r>
              <a:t>✅ 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智联/51job 双平台自动化采集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AI 驱动 8 维度数据增强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7 维度图表 + AI 洞察报告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自然语言 → SQL 查询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pgvector 语义向量搜索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IP 代理池自动切换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WAF 双重检测 + 三级恢复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LLM 多模型智能路由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RBAC 用户/角色/权限管理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WebSocket 实时进度推送
• 简历-岗位智能匹配 (LLM+向量+规则)
• AI 问答机器人 (RAG 多轮对话)
• 语义模型微调训练 (Sentence-Transformers)
• 数据看板与可视化大屏
• 提示词管理系统 (DB动态加载)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断点续传 + 浏览器崩溃恢复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AES-256-GCM API Key 加密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926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6A23C"/>
                </a:solidFill>
                <a:latin typeface="Microsoft YaHei"/>
              </a:defRPr>
            </a:pPr>
            <a:r>
              <a:t>🔮 未来展望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29184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扩展更多招聘平台 (Boss直聘等)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接入付费代理源提升稳定性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引入消息队列 (Redis/RabbitMQ)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爬虫分布式部署 + 任务调度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扩展更多招聘平台 (Boss直聘、猎聘等)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移动端适配 (PWA)
• 岗位技能知识图谱
• 多语言支持 (EN/JP)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自动定时采集 + 邮件报告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CI/CD 自动化部署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接入更多 LLM 模型</a:t>
            </a:r>
          </a:p>
          <a:p>
            <a:pPr>
              <a:spcAft>
                <a:spcPts val="400"/>
              </a:spcAft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• 技能知识图谱构建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92240"/>
            <a:ext cx="12191695" cy="36576"/>
          </a:xfrm>
          <a:prstGeom prst="rect">
            <a:avLst/>
          </a:prstGeom>
          <a:solidFill>
            <a:srgbClr val="909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5836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09399"/>
                </a:solidFill>
                <a:latin typeface="Microsoft YaHei"/>
              </a:defRPr>
            </a:pPr>
            <a: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