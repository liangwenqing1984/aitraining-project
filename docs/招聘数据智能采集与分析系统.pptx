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4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4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介绍我们最新研发的“招聘数据智能采集与分析系统”。这是一个集成了AI技术的一站式平台，旨在解决当前招聘市场数据获取难、分析浅的痛点。它涵盖了从数据采集、AI增强、智能分析到语义检索的全链路，将为招聘市场分析提供前所未有的深度和效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介绍将分为十个部分。首先，我们会探讨项目的背景与核心痛点。接着，将详细解析系统的整体架构、数据采集模块、反爬对抗体系以及AI数据增强技术。之后，我们会展示系统的智能分析、自然语言查询和语义搜索功能。最后，介绍LLM任务路由机制，并对整个项目的技术栈和未来发展进行总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项目背景。当前招聘数据领域存在四大痛点：数据获取难、数据标准化难、分析深度不足以及精准搜索缺失。这些问题严重制约了对招聘市场的深度洞察。为此，我们提出的解决方案是构建一个AI驱动的一站式招聘数据平台，通过自动化流程打通从数据采集到智能检索的全链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系统的整体架构。我们采用了经典的五层技术架构，从前端层到外部服务层，确保了系统的高内聚、低耦合。同时，系统功能被划分为六大核心模块，包括数据采集、AI数据增强、智能分析、自然语言查询、RAG语义搜索以及IP代理池，每个模块各司其职，协同工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数据采集方面，我们的系统支持智联招聘和前程无忧两大主流招聘平台。我们的智能爬虫具备强大的核心能力，通过三级回退机制（API直连-代理-渲染）和完善的稳定性保障策略（断点续传、崩溃恢复、10次自动重启），确保了采集任务的连续性和稳定性，即使面对复杂的WAF风控也能灵活应对。特别值得一提的是针对不同网站的针对性技术方案：在智联招聘上，我们通过API直连技术实现了效率与抗拦截能力的双重提升；而在51job上，则通过精准的XHR拦截与特定参数构造，成功绕过了列表分页限制，实现了高效的数据抓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应对日益严格的反爬机制，我们构建了一套全方位的反爬对抗体系。这套体系包括浏览器层伪装、类人行为模拟、WAF智能检测和自动恢复策略这四层防御。同时，我们的代理池协同机制，通过整合多个代理源并进行智能管理，大大增强了系统的稳定性和抗封锁能力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采集到的原始数据往往是杂乱无章的，这也是很多企业在进行数据分析时遇到的最大痛点。因此，我们利用先进的AI技术，对海量的招聘和人才数据进行了8个关键维度的标准化处理。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请看左侧，这8个维度涵盖了从薪资、职位、行业、技能，到学历、经验、福利以及工作模式等方方面面，基本覆盖了企业在进行人才盘点和市场分析时的所有核心关注要素。通过这一标准化过程，我们将杂乱的非结构化数据转化为了可直接分析的结构化资产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而为了保障这一过程的准确性和稳定性，我们在底层技术上做了大量的投入，请看右侧。我们利用LLM进行高效的批量处理；设计了“3次重试加三层JSON解析”的机制来保证结果的高准确率；同时，系统支持幂等操作，可实时推送进度，避免了重复计算；并且支持多模型动态路由，以适应不同场景的需求。这一系列技术特点共同保障了数据处理的高效性与一致性，为后续的深度商业分析打下了坚实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有了标准化的数据，我们就能进行深入的智能分析。系统提供了7大维度的可视化图表，直观展示市场趋势。更进一步，我们利用LLM生成AI洞察报告，能够自动聚合多维度数据并生成结构化的分析结论，极大地提升了分析效率和深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让数据分析更加便捷，我们实现了自然语言查询功能。用户可以用日常的中文提问，系统会自动将其转化为SQL查询并返回结果。整个过程有严格的安全机制保障，防止SQL注入等风险。例如，用户可以直接问“北京Java岗位薪资20K以上有哪些”，系统就能给出答案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传统的关键词搜索无法理解语义。为此，我们引入了基于RAG的语义搜索技术。通过将职位信息向量化并存储在pgvector中，我们可以实现基于语义相似度的检索。这项技术不仅能解决语义稀疏问题，还能通过同义词映射等方式，实现更精准、更快速的搜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系统中不同的AI任务对模型的要求各不相同。为了实现高效和成本优化，我们设计了LLM任务路由机制。系统会根据任务类型，如数据增强、洞察报告等，智能地调度最合适的模型来执行。这种机制不仅提高了效率，还通过配置缓存和加密存储保障了系统的性能和安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对项目进行总结。系统采用了全面的全栈技术，涵盖了前端、后端、数据和AI等多个领域。目前，系统已实现了双平台采集、AI增强、智能分析等一系列核心功能。展望未来，我们计划支持更多平台、引入消息队列和分布式爬虫，并开发数据大屏和知识图谱等更高级的功能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我的介绍到此结束，感谢大家的聆听！如果大家有任何问题，欢迎随时提问。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svg"/><Relationship Id="rId8" Type="http://schemas.openxmlformats.org/officeDocument/2006/relationships/image" Target="../media/image9.png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image" Target="../media/image10.svg"/><Relationship Id="rId6" Type="http://schemas.openxmlformats.org/officeDocument/2006/relationships/image" Target="../media/image9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20.svg"/><Relationship Id="rId12" Type="http://schemas.openxmlformats.org/officeDocument/2006/relationships/image" Target="../media/image19.png"/><Relationship Id="rId11" Type="http://schemas.openxmlformats.org/officeDocument/2006/relationships/image" Target="../media/image12.svg"/><Relationship Id="rId10" Type="http://schemas.openxmlformats.org/officeDocument/2006/relationships/image" Target="../media/image11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svg"/><Relationship Id="rId8" Type="http://schemas.openxmlformats.org/officeDocument/2006/relationships/image" Target="../media/image31.png"/><Relationship Id="rId7" Type="http://schemas.openxmlformats.org/officeDocument/2006/relationships/image" Target="../media/image6.svg"/><Relationship Id="rId6" Type="http://schemas.openxmlformats.org/officeDocument/2006/relationships/image" Target="../media/image5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7" Type="http://schemas.openxmlformats.org/officeDocument/2006/relationships/notesSlide" Target="../notesSlides/notesSlide6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38.svg"/><Relationship Id="rId14" Type="http://schemas.openxmlformats.org/officeDocument/2006/relationships/image" Target="../media/image37.png"/><Relationship Id="rId13" Type="http://schemas.openxmlformats.org/officeDocument/2006/relationships/image" Target="../media/image36.svg"/><Relationship Id="rId12" Type="http://schemas.openxmlformats.org/officeDocument/2006/relationships/image" Target="../media/image35.png"/><Relationship Id="rId11" Type="http://schemas.openxmlformats.org/officeDocument/2006/relationships/image" Target="../media/image34.svg"/><Relationship Id="rId10" Type="http://schemas.openxmlformats.org/officeDocument/2006/relationships/image" Target="../media/image33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svg"/><Relationship Id="rId8" Type="http://schemas.openxmlformats.org/officeDocument/2006/relationships/image" Target="../media/image45.png"/><Relationship Id="rId7" Type="http://schemas.openxmlformats.org/officeDocument/2006/relationships/image" Target="../media/image44.svg"/><Relationship Id="rId6" Type="http://schemas.openxmlformats.org/officeDocument/2006/relationships/image" Target="../media/image43.png"/><Relationship Id="rId5" Type="http://schemas.openxmlformats.org/officeDocument/2006/relationships/image" Target="../media/image42.svg"/><Relationship Id="rId4" Type="http://schemas.openxmlformats.org/officeDocument/2006/relationships/image" Target="../media/image41.png"/><Relationship Id="rId3" Type="http://schemas.openxmlformats.org/officeDocument/2006/relationships/image" Target="../media/image40.svg"/><Relationship Id="rId23" Type="http://schemas.openxmlformats.org/officeDocument/2006/relationships/notesSlide" Target="../notesSlides/notesSlide7.xml"/><Relationship Id="rId22" Type="http://schemas.openxmlformats.org/officeDocument/2006/relationships/slideLayout" Target="../slideLayouts/slideLayout12.xml"/><Relationship Id="rId21" Type="http://schemas.openxmlformats.org/officeDocument/2006/relationships/image" Target="../media/image56.svg"/><Relationship Id="rId20" Type="http://schemas.openxmlformats.org/officeDocument/2006/relationships/image" Target="../media/image55.png"/><Relationship Id="rId2" Type="http://schemas.openxmlformats.org/officeDocument/2006/relationships/image" Target="../media/image39.png"/><Relationship Id="rId19" Type="http://schemas.openxmlformats.org/officeDocument/2006/relationships/image" Target="../media/image54.svg"/><Relationship Id="rId18" Type="http://schemas.openxmlformats.org/officeDocument/2006/relationships/image" Target="../media/image53.png"/><Relationship Id="rId17" Type="http://schemas.openxmlformats.org/officeDocument/2006/relationships/image" Target="../media/image32.svg"/><Relationship Id="rId16" Type="http://schemas.openxmlformats.org/officeDocument/2006/relationships/image" Target="../media/image31.png"/><Relationship Id="rId15" Type="http://schemas.openxmlformats.org/officeDocument/2006/relationships/image" Target="../media/image52.svg"/><Relationship Id="rId14" Type="http://schemas.openxmlformats.org/officeDocument/2006/relationships/image" Target="../media/image51.png"/><Relationship Id="rId13" Type="http://schemas.openxmlformats.org/officeDocument/2006/relationships/image" Target="../media/image50.svg"/><Relationship Id="rId12" Type="http://schemas.openxmlformats.org/officeDocument/2006/relationships/image" Target="../media/image49.png"/><Relationship Id="rId11" Type="http://schemas.openxmlformats.org/officeDocument/2006/relationships/image" Target="../media/image48.svg"/><Relationship Id="rId10" Type="http://schemas.openxmlformats.org/officeDocument/2006/relationships/image" Target="../media/image47.png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svg"/><Relationship Id="rId8" Type="http://schemas.openxmlformats.org/officeDocument/2006/relationships/image" Target="../media/image63.png"/><Relationship Id="rId7" Type="http://schemas.openxmlformats.org/officeDocument/2006/relationships/image" Target="../media/image62.svg"/><Relationship Id="rId6" Type="http://schemas.openxmlformats.org/officeDocument/2006/relationships/image" Target="../media/image61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Relationship Id="rId3" Type="http://schemas.openxmlformats.org/officeDocument/2006/relationships/image" Target="../media/image58.svg"/><Relationship Id="rId25" Type="http://schemas.openxmlformats.org/officeDocument/2006/relationships/notesSlide" Target="../notesSlides/notesSlide8.xml"/><Relationship Id="rId24" Type="http://schemas.openxmlformats.org/officeDocument/2006/relationships/slideLayout" Target="../slideLayouts/slideLayout12.xml"/><Relationship Id="rId23" Type="http://schemas.openxmlformats.org/officeDocument/2006/relationships/image" Target="../media/image72.svg"/><Relationship Id="rId22" Type="http://schemas.openxmlformats.org/officeDocument/2006/relationships/image" Target="../media/image71.png"/><Relationship Id="rId21" Type="http://schemas.openxmlformats.org/officeDocument/2006/relationships/image" Target="../media/image10.svg"/><Relationship Id="rId20" Type="http://schemas.openxmlformats.org/officeDocument/2006/relationships/image" Target="../media/image9.png"/><Relationship Id="rId2" Type="http://schemas.openxmlformats.org/officeDocument/2006/relationships/image" Target="../media/image57.png"/><Relationship Id="rId19" Type="http://schemas.openxmlformats.org/officeDocument/2006/relationships/image" Target="../media/image70.svg"/><Relationship Id="rId18" Type="http://schemas.openxmlformats.org/officeDocument/2006/relationships/image" Target="../media/image69.png"/><Relationship Id="rId17" Type="http://schemas.openxmlformats.org/officeDocument/2006/relationships/image" Target="../media/image14.svg"/><Relationship Id="rId16" Type="http://schemas.openxmlformats.org/officeDocument/2006/relationships/image" Target="../media/image13.png"/><Relationship Id="rId15" Type="http://schemas.openxmlformats.org/officeDocument/2006/relationships/image" Target="../media/image68.svg"/><Relationship Id="rId14" Type="http://schemas.openxmlformats.org/officeDocument/2006/relationships/image" Target="../media/image67.png"/><Relationship Id="rId13" Type="http://schemas.openxmlformats.org/officeDocument/2006/relationships/image" Target="../media/image66.svg"/><Relationship Id="rId12" Type="http://schemas.openxmlformats.org/officeDocument/2006/relationships/image" Target="../media/image65.png"/><Relationship Id="rId11" Type="http://schemas.openxmlformats.org/officeDocument/2006/relationships/image" Target="../media/image44.svg"/><Relationship Id="rId10" Type="http://schemas.openxmlformats.org/officeDocument/2006/relationships/image" Target="../media/image43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8.svg"/><Relationship Id="rId6" Type="http://schemas.openxmlformats.org/officeDocument/2006/relationships/image" Target="../media/image1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74.svg"/><Relationship Id="rId2" Type="http://schemas.openxmlformats.org/officeDocument/2006/relationships/image" Target="../media/image73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80.svg"/><Relationship Id="rId8" Type="http://schemas.openxmlformats.org/officeDocument/2006/relationships/image" Target="../media/image79.png"/><Relationship Id="rId7" Type="http://schemas.openxmlformats.org/officeDocument/2006/relationships/image" Target="../media/image78.svg"/><Relationship Id="rId6" Type="http://schemas.openxmlformats.org/officeDocument/2006/relationships/image" Target="../media/image77.png"/><Relationship Id="rId5" Type="http://schemas.openxmlformats.org/officeDocument/2006/relationships/image" Target="../media/image76.svg"/><Relationship Id="rId4" Type="http://schemas.openxmlformats.org/officeDocument/2006/relationships/image" Target="../media/image75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1" Type="http://schemas.openxmlformats.org/officeDocument/2006/relationships/notesSlide" Target="../notesSlides/notesSlide10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svg"/><Relationship Id="rId8" Type="http://schemas.openxmlformats.org/officeDocument/2006/relationships/image" Target="../media/image5.png"/><Relationship Id="rId7" Type="http://schemas.openxmlformats.org/officeDocument/2006/relationships/image" Target="../media/image84.svg"/><Relationship Id="rId6" Type="http://schemas.openxmlformats.org/officeDocument/2006/relationships/image" Target="../media/image8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82.svg"/><Relationship Id="rId2" Type="http://schemas.openxmlformats.org/officeDocument/2006/relationships/image" Target="../media/image81.png"/><Relationship Id="rId19" Type="http://schemas.openxmlformats.org/officeDocument/2006/relationships/notesSlide" Target="../notesSlides/notesSlide11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90.svg"/><Relationship Id="rId16" Type="http://schemas.openxmlformats.org/officeDocument/2006/relationships/image" Target="../media/image89.png"/><Relationship Id="rId15" Type="http://schemas.openxmlformats.org/officeDocument/2006/relationships/image" Target="../media/image88.svg"/><Relationship Id="rId14" Type="http://schemas.openxmlformats.org/officeDocument/2006/relationships/image" Target="../media/image87.png"/><Relationship Id="rId13" Type="http://schemas.openxmlformats.org/officeDocument/2006/relationships/image" Target="../media/image86.svg"/><Relationship Id="rId12" Type="http://schemas.openxmlformats.org/officeDocument/2006/relationships/image" Target="../media/image85.png"/><Relationship Id="rId11" Type="http://schemas.openxmlformats.org/officeDocument/2006/relationships/image" Target="../media/image34.svg"/><Relationship Id="rId10" Type="http://schemas.openxmlformats.org/officeDocument/2006/relationships/image" Target="../media/image33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2.svg"/><Relationship Id="rId6" Type="http://schemas.openxmlformats.org/officeDocument/2006/relationships/image" Target="../media/image9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94.png"/><Relationship Id="rId1" Type="http://schemas.openxmlformats.org/officeDocument/2006/relationships/image" Target="../media/image9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905000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招聘数据智能采集与分析系统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302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0" i="0" u="none" strike="noStrike">
                <a:solidFill>
                  <a:srgbClr val="BFDB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AI-Powered Job Market Data Platform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588000" y="4445000"/>
            <a:ext cx="1016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0" y="4953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一站式招聘数据采集 · AI增强 · 智能分析 · 语义检索平台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5842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版本 2.0.0 | 2026.05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0335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403350"/>
            <a:ext cx="889000" cy="889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140335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841500" y="146685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项目背景与核心痛点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为什么需要这套系统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54635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2546350"/>
            <a:ext cx="889000" cy="889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254635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841500" y="260985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系统架构总览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五层技术架构与六大核心模块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68935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3689350"/>
            <a:ext cx="889000" cy="889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368935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841500" y="375285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双平台智能爬虫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83235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832350"/>
            <a:ext cx="889000" cy="889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762000" y="483235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841500" y="489585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反爬对抗体系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全方位绕过防护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140335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23000" y="1403350"/>
            <a:ext cx="889000" cy="889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6223000" y="140335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302500" y="146685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AI数据增强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8维度标准化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223000" y="254635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223000" y="2546350"/>
            <a:ext cx="889000" cy="889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6" name="AutoShape 26"/>
          <p:cNvSpPr/>
          <p:nvPr/>
        </p:nvSpPr>
        <p:spPr>
          <a:xfrm>
            <a:off x="6223000" y="254635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302500" y="260985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智能分析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7维度可视化+AI报告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223000" y="368935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6223000" y="3689350"/>
            <a:ext cx="889000" cy="889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6223000" y="368935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7302500" y="375285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自然语言查询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Text-to-SQL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6223000" y="4832350"/>
            <a:ext cx="5207000" cy="889000"/>
          </a:xfrm>
          <a:prstGeom prst="roundRect">
            <a:avLst>
              <a:gd name="adj" fmla="val 11428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3" name="AutoShape 33"/>
          <p:cNvSpPr/>
          <p:nvPr/>
        </p:nvSpPr>
        <p:spPr>
          <a:xfrm>
            <a:off x="6223000" y="4832350"/>
            <a:ext cx="889000" cy="889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4" name="AutoShape 34"/>
          <p:cNvSpPr/>
          <p:nvPr/>
        </p:nvSpPr>
        <p:spPr>
          <a:xfrm>
            <a:off x="6223000" y="4832350"/>
            <a:ext cx="88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</a:t>
            </a:r>
            <a:endParaRPr lang="en-US" sz="1100"/>
          </a:p>
        </p:txBody>
      </p:sp>
      <p:sp>
        <p:nvSpPr>
          <p:cNvPr id="35" name="AutoShape 35"/>
          <p:cNvSpPr/>
          <p:nvPr/>
        </p:nvSpPr>
        <p:spPr>
          <a:xfrm>
            <a:off x="7302500" y="4895850"/>
            <a:ext cx="393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RAG语义搜索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pgvector + Ollama</a:t>
            </a:r>
            <a:endParaRPr lang="en-US" sz="1100"/>
          </a:p>
        </p:txBody>
      </p:sp>
      <p:sp>
        <p:nvSpPr>
          <p:cNvPr id="36" name="AutoShape 36"/>
          <p:cNvSpPr/>
          <p:nvPr/>
        </p:nvSpPr>
        <p:spPr>
          <a:xfrm>
            <a:off x="762000" y="5975350"/>
            <a:ext cx="5207000" cy="819150"/>
          </a:xfrm>
          <a:prstGeom prst="roundRect">
            <a:avLst>
              <a:gd name="adj" fmla="val 1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7" name="AutoShape 37"/>
          <p:cNvSpPr/>
          <p:nvPr/>
        </p:nvSpPr>
        <p:spPr>
          <a:xfrm>
            <a:off x="762000" y="5975350"/>
            <a:ext cx="889635" cy="81915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sz="2400"/>
          </a:p>
        </p:txBody>
      </p:sp>
      <p:sp>
        <p:nvSpPr>
          <p:cNvPr id="38" name="AutoShape 38"/>
          <p:cNvSpPr/>
          <p:nvPr/>
        </p:nvSpPr>
        <p:spPr>
          <a:xfrm>
            <a:off x="762000" y="5975350"/>
            <a:ext cx="762000" cy="8191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09</a:t>
            </a:r>
            <a:endParaRPr lang="en-US" sz="2800" b="1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9" name="AutoShape 39"/>
          <p:cNvSpPr/>
          <p:nvPr/>
        </p:nvSpPr>
        <p:spPr>
          <a:xfrm>
            <a:off x="1714500" y="5975350"/>
            <a:ext cx="4064000" cy="8191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</a:t>
            </a: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LLM任务路由</a:t>
            </a:r>
            <a:r>
              <a:rPr lang="en-US" sz="1200" i="0" u="none" strike="noStrike">
                <a:solidFill>
                  <a:schemeClr val="bg1">
                    <a:lumMod val="6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</a:t>
            </a:r>
            <a:r>
              <a:rPr lang="zh-CN" altLang="en-US" sz="12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多模型智能调度</a:t>
            </a:r>
            <a:endParaRPr lang="zh-CN" altLang="en-US" sz="120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0" name="AutoShape 40"/>
          <p:cNvSpPr/>
          <p:nvPr/>
        </p:nvSpPr>
        <p:spPr>
          <a:xfrm>
            <a:off x="6223000" y="5975985"/>
            <a:ext cx="5207000" cy="818515"/>
          </a:xfrm>
          <a:prstGeom prst="roundRect">
            <a:avLst>
              <a:gd name="adj" fmla="val 1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1" name="AutoShape 41"/>
          <p:cNvSpPr/>
          <p:nvPr/>
        </p:nvSpPr>
        <p:spPr>
          <a:xfrm>
            <a:off x="6223000" y="5975985"/>
            <a:ext cx="889635" cy="818515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2" name="AutoShape 42"/>
          <p:cNvSpPr/>
          <p:nvPr/>
        </p:nvSpPr>
        <p:spPr>
          <a:xfrm>
            <a:off x="6223000" y="6096000"/>
            <a:ext cx="762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10</a:t>
            </a:r>
            <a:endParaRPr lang="en-US" sz="28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3" name="AutoShape 43"/>
          <p:cNvSpPr/>
          <p:nvPr/>
        </p:nvSpPr>
        <p:spPr>
          <a:xfrm>
            <a:off x="7175500" y="5975985"/>
            <a:ext cx="4744720" cy="8185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</a:t>
            </a: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技术栈与项目总结</a:t>
            </a:r>
            <a:r>
              <a:rPr lang="en-US" sz="1200" i="0" u="none" strike="noStrike">
                <a:solidFill>
                  <a:schemeClr val="bg1">
                    <a:lumMod val="6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</a:t>
            </a:r>
            <a:r>
              <a:rPr lang="zh-CN" altLang="en-US" sz="120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全栈技术与未来展望</a:t>
            </a:r>
            <a:endParaRPr lang="zh-CN" altLang="en-US" sz="120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项目背景与核心痛点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4064000"/>
          </a:xfrm>
          <a:prstGeom prst="roundRect">
            <a:avLst>
              <a:gd name="adj" fmla="val 375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540000"/>
            <a:ext cx="660400" cy="660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032000" y="2540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解决方案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143000" y="3683000"/>
            <a:ext cx="4445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 AI 驱动一站式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招聘数据平台</a:t>
            </a:r>
            <a:endParaRPr lang="en-US" sz="1100"/>
          </a:p>
          <a:p>
            <a:pPr indent="0" algn="l">
              <a:lnSpc>
                <a:spcPct val="117000"/>
              </a:lnSpc>
              <a:spcBef>
                <a:spcPts val="2000"/>
              </a:spcBef>
            </a:pPr>
            <a:r>
              <a:rPr lang="en-US" sz="1400" b="0" i="0" u="none" strike="noStrike">
                <a:solidFill>
                  <a:srgbClr val="EFF6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</a:t>
            </a:r>
            <a:r>
              <a:rPr lang="en-US" sz="1400" b="1" i="0" u="none" strike="noStrike">
                <a:solidFill>
                  <a:srgbClr val="EFF6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采集 → 增强 → 分析 → 检索</a:t>
            </a:r>
            <a:r>
              <a:rPr lang="en-US" sz="1400" b="0" i="0" u="none" strike="noStrike">
                <a:solidFill>
                  <a:srgbClr val="EFF6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全链路自动化，解决行业痛点，释放数据价值。</a:t>
            </a:r>
            <a:endParaRPr lang="en-US" sz="1400" b="0" i="0" u="none" strike="noStrike">
              <a:solidFill>
                <a:srgbClr val="EFF6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2032000"/>
            <a:ext cx="2667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860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112000" y="2286000"/>
            <a:ext cx="165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数据获取难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3048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招聘网站反爬机制严格(WAF/验证码/IP封锁)，人工采集耗时且效率极低。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144000" y="2032000"/>
            <a:ext cx="2667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98000" y="22860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0033000" y="2286000"/>
            <a:ext cx="165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数据标准化难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398000" y="3048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薪资、岗位等数据格式混乱，缺乏统一的结构化标准，无法直接用于分析。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191000"/>
            <a:ext cx="2667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445000"/>
            <a:ext cx="457200" cy="4572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112000" y="4445000"/>
            <a:ext cx="165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分析深度不足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5207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仅停留在基础统计层面，缺乏对技能趋势、行业横向对比及交叉维度的深度洞察。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144000" y="4191000"/>
            <a:ext cx="2667000" cy="1905000"/>
          </a:xfrm>
          <a:prstGeom prst="roundRect">
            <a:avLst>
              <a:gd name="adj" fmla="val 533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398000" y="44450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0033000" y="4445000"/>
            <a:ext cx="165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精准搜索缺失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9398000" y="5207000"/>
            <a:ext cx="215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传统关键词匹配死板，无法理解语义，导致无法检索到大量语义相近的高价值数据。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系统架构总览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032000" cy="228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889000" y="1905000"/>
            <a:ext cx="177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前端层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Vue 3 + Element Plus</a:t>
            </a:r>
            <a:endParaRPr lang="en-US" sz="1300" b="1" i="0" u="none" strike="noStrike">
              <a:solidFill>
                <a:srgbClr val="3B82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 · 多维分析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灵活查询 · 全文搜索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系统配置 · 统一管理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2921000" y="1651000"/>
            <a:ext cx="2032000" cy="228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2921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048000" y="1905000"/>
            <a:ext cx="177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 网关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Express + Socket.IO</a:t>
            </a:r>
            <a:endParaRPr lang="en-US" sz="1300" b="1" i="0" u="none" strike="noStrike">
              <a:solidFill>
                <a:srgbClr val="3B82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60+标准化接口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WebSocket 实时推送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JWT/OAuth2 + RBAC鉴权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080000" y="1651000"/>
            <a:ext cx="2032000" cy="228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080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5207000" y="1905000"/>
            <a:ext cx="177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业务服务层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16个微服务集群</a:t>
            </a:r>
            <a:endParaRPr lang="en-US" sz="1300" b="1" i="0" u="none" strike="noStrike">
              <a:solidFill>
                <a:srgbClr val="3B82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分布式爬虫 / LLM 集成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智能分析引擎 / RAG检索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代理池管理 / 权限控制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239000" y="1651000"/>
            <a:ext cx="2032000" cy="228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239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366000" y="1905000"/>
            <a:ext cx="177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数据层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PostgreSQL + pgvector</a:t>
            </a:r>
            <a:endParaRPr lang="en-US" sz="1300" b="1" i="0" u="none" strike="noStrike">
              <a:solidFill>
                <a:srgbClr val="3B82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业务逻辑表 + RBAC表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共15张标准化数据表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支持向量检索与全文索引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9398000" y="1651000"/>
            <a:ext cx="2032000" cy="2286000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398000" y="1651000"/>
            <a:ext cx="2032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525000" y="1905000"/>
            <a:ext cx="1778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外部服务集成</a:t>
            </a:r>
            <a:endParaRPr lang="en-US" sz="1100"/>
          </a:p>
          <a:p>
            <a:pPr indent="0" algn="ctr">
              <a:lnSpc>
                <a:spcPct val="108000"/>
              </a:lnSpc>
              <a:spcBef>
                <a:spcPts val="800"/>
              </a:spcBef>
            </a:pP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Puppeteer / Ollama</a:t>
            </a:r>
            <a:endParaRPr lang="en-US" sz="1300" b="1" i="0" u="none" strike="noStrike">
              <a:solidFill>
                <a:srgbClr val="3B82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17000"/>
              </a:lnSpc>
              <a:spcBef>
                <a:spcPts val="800"/>
              </a:spcBef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Headless 浏览器渲染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本地化大模型部署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Proxy_pool / OAuth2 SSO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762000" y="4318000"/>
            <a:ext cx="1714500" cy="1905000"/>
          </a:xfrm>
          <a:prstGeom prst="roundRect">
            <a:avLst>
              <a:gd name="adj" fmla="val 5925"/>
            </a:avLst>
          </a:prstGeom>
          <a:solidFill>
            <a:srgbClr val="EFF6FF">
              <a:alpha val="9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95400" y="4508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25500" y="52070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数据采集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支持多源异构数据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自动化增量采集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/>
        </p:nvSpPr>
        <p:spPr>
          <a:xfrm>
            <a:off x="2603500" y="4318000"/>
            <a:ext cx="1714500" cy="1905000"/>
          </a:xfrm>
          <a:prstGeom prst="roundRect">
            <a:avLst>
              <a:gd name="adj" fmla="val 5925"/>
            </a:avLst>
          </a:prstGeom>
          <a:solidFill>
            <a:srgbClr val="EFF6FF">
              <a:alpha val="9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36900" y="45085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2667000" y="52070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数据增强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基于大模型的数据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清洗、标注与扩展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4445000" y="4318000"/>
            <a:ext cx="1714500" cy="1905000"/>
          </a:xfrm>
          <a:prstGeom prst="roundRect">
            <a:avLst>
              <a:gd name="adj" fmla="val 5925"/>
            </a:avLst>
          </a:prstGeom>
          <a:solidFill>
            <a:srgbClr val="EFF6FF">
              <a:alpha val="9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78400" y="4508500"/>
            <a:ext cx="508000" cy="5080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4508500" y="52070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智能分析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可视化图表展示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趋势洞察与归因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/>
        </p:nvSpPr>
        <p:spPr>
          <a:xfrm>
            <a:off x="6286500" y="4318000"/>
            <a:ext cx="1714500" cy="1905000"/>
          </a:xfrm>
          <a:prstGeom prst="roundRect">
            <a:avLst>
              <a:gd name="adj" fmla="val 5925"/>
            </a:avLst>
          </a:prstGeom>
          <a:solidFill>
            <a:srgbClr val="EFF6FF">
              <a:alpha val="9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19900" y="4508500"/>
            <a:ext cx="508000" cy="5080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6350000" y="52070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自然语言查询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NL2SQL 引擎驱动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零门槛对话式查询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8128000" y="4318000"/>
            <a:ext cx="1714500" cy="1905000"/>
          </a:xfrm>
          <a:prstGeom prst="roundRect">
            <a:avLst>
              <a:gd name="adj" fmla="val 5925"/>
            </a:avLst>
          </a:prstGeom>
          <a:solidFill>
            <a:srgbClr val="EFF6FF">
              <a:alpha val="9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61400" y="4508500"/>
            <a:ext cx="508000" cy="5080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8191500" y="52070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RAG 语义搜索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基于向量库的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深度知识检索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4" name="AutoShape 34"/>
          <p:cNvSpPr/>
          <p:nvPr/>
        </p:nvSpPr>
        <p:spPr>
          <a:xfrm>
            <a:off x="9969500" y="4318000"/>
            <a:ext cx="1714500" cy="1905000"/>
          </a:xfrm>
          <a:prstGeom prst="roundRect">
            <a:avLst>
              <a:gd name="adj" fmla="val 5925"/>
            </a:avLst>
          </a:prstGeom>
          <a:solidFill>
            <a:srgbClr val="EFF6FF">
              <a:alpha val="9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5" name="Picture 3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502900" y="4508500"/>
            <a:ext cx="508000" cy="508000"/>
          </a:xfrm>
          <a:prstGeom prst="rect">
            <a:avLst/>
          </a:prstGeom>
        </p:spPr>
      </p:pic>
      <p:sp>
        <p:nvSpPr>
          <p:cNvPr id="36" name="AutoShape 36"/>
          <p:cNvSpPr/>
          <p:nvPr/>
        </p:nvSpPr>
        <p:spPr>
          <a:xfrm>
            <a:off x="10033000" y="5207000"/>
            <a:ext cx="1587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IP 代理池</a:t>
            </a:r>
            <a:endParaRPr lang="en-US" sz="1100"/>
          </a:p>
          <a:p>
            <a:pPr indent="0" algn="ctr">
              <a:lnSpc>
                <a:spcPct val="125000"/>
              </a:lnSpc>
              <a:spcBef>
                <a:spcPts val="600"/>
              </a:spcBef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高匿代理自动调度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保障数据采集稳定性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数据采集：双平台智能爬虫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889000"/>
          </a:xfrm>
          <a:prstGeom prst="roundRect">
            <a:avLst>
              <a:gd name="adj" fmla="val 17142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06600"/>
            <a:ext cx="431800" cy="431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1930400"/>
            <a:ext cx="215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支持平台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048000"/>
            <a:ext cx="2794000" cy="1143000"/>
          </a:xfrm>
          <a:prstGeom prst="roundRect">
            <a:avLst>
              <a:gd name="adj" fmla="val 8888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175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智联招聘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Zhaopin.com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016000" y="4572000"/>
            <a:ext cx="2794000" cy="1143000"/>
          </a:xfrm>
          <a:prstGeom prst="roundRect">
            <a:avLst>
              <a:gd name="adj" fmla="val 8888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4699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前程无忧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51job.com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445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445000" y="1778000"/>
            <a:ext cx="3302000" cy="889000"/>
          </a:xfrm>
          <a:prstGeom prst="roundRect">
            <a:avLst>
              <a:gd name="adj" fmla="val 17142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006600"/>
            <a:ext cx="431800" cy="431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334000" y="1930400"/>
            <a:ext cx="215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核心能力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635500" y="2921000"/>
            <a:ext cx="2921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基础策略：URL参数编码、UA轮换、会话隔离，模拟真实用户行为。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三级回退：API直连 → 代理请求 → 浏览器渲染，确保数据可获取性。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风控应对：实时WAF检测识别，触发阈值时代理自动切换。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稳定保障：断点续传 + 崩溃自动恢复 + 最大10次任务自动重启机制。</a:t>
            </a:r>
            <a:endParaRPr lang="en-US" sz="1400" b="1" i="0" u="none" strike="noStrike">
              <a:solidFill>
                <a:srgbClr val="DC262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8128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128000" y="1778000"/>
            <a:ext cx="3302000" cy="889000"/>
          </a:xfrm>
          <a:prstGeom prst="roundRect">
            <a:avLst>
              <a:gd name="adj" fmla="val 17142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006600"/>
            <a:ext cx="431800" cy="431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9017000" y="1930400"/>
            <a:ext cx="2159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技术亮点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318500" y="3048000"/>
            <a:ext cx="2921000" cy="1397000"/>
          </a:xfrm>
          <a:prstGeom prst="roundRect">
            <a:avLst>
              <a:gd name="adj" fmla="val 7272"/>
            </a:avLst>
          </a:prstGeom>
          <a:solidFill>
            <a:srgbClr val="F0FDF4">
              <a:alpha val="100000"/>
            </a:srgbClr>
          </a:solidFill>
          <a:ln w="12700" cap="flat" cmpd="sng">
            <a:solidFill>
              <a:srgbClr val="BBF7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445500" y="31750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🎯 智联招聘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绕过前端加密逻辑，使用API直连方式，大幅提升爬取效率并成功逃逸WAF拦截。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318500" y="4699000"/>
            <a:ext cx="2921000" cy="1397000"/>
          </a:xfrm>
          <a:prstGeom prst="roundRect">
            <a:avLst>
              <a:gd name="adj" fmla="val 7272"/>
            </a:avLst>
          </a:prstGeom>
          <a:solidFill>
            <a:srgbClr val="FFF7ED">
              <a:alpha val="100000"/>
            </a:srgbClr>
          </a:solidFill>
          <a:ln w="12700" cap="flat" cmpd="sng">
            <a:solidFill>
              <a:srgbClr val="FED7AA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8445500" y="4826000"/>
            <a:ext cx="2667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500" b="1" i="0" u="none" strike="noStrike">
                <a:solidFill>
                  <a:srgbClr val="C2410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🔧 前程无忧 (51job)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通过拦截关键XHR请求，构造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reportType=1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参数，直接绕过列表页分页限制，实现批量数据抓取。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反爬对抗体系：全方位绕过防护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🛡️ 四层防御体系 Four-Tier Defense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400" y="28575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49400" y="2832100"/>
            <a:ext cx="1714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浏览器层伪装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随机视口、UA池轮换、独立会话管理及 Stealth 插件全维度隐藏特征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492500" y="2667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44900" y="2857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025900" y="2832100"/>
            <a:ext cx="1714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类人行为模拟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模拟真人操作习惯，实施分级随机延迟、渐进式页面滚动与错峰请求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16000" y="4445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8400" y="46355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49400" y="4610100"/>
            <a:ext cx="1714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WAF智能检测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结合硬编码签名识别与AI驱动的页面分类技术，精准识别并规避拦截规则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492500" y="4445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44900" y="46355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025900" y="4610100"/>
            <a:ext cx="1714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自动恢复策略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触发阈值后自动切换代理IP、降级为串行任务、指数退避重试及进程重启恢复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1651000"/>
            <a:ext cx="5207000" cy="4572000"/>
          </a:xfrm>
          <a:prstGeom prst="roundRect">
            <a:avLst>
              <a:gd name="adj" fmla="val 3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190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 代理池协同机制 Proxy Pool Synergy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26670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2959100"/>
            <a:ext cx="457200" cy="4572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366000" y="2819400"/>
            <a:ext cx="368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多源聚合能力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整合并调度11个免费高匿代理源，保障IP池规模与多样性。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477000" y="3937000"/>
            <a:ext cx="4699000" cy="1079500"/>
          </a:xfrm>
          <a:prstGeom prst="roundRect">
            <a:avLst>
              <a:gd name="adj" fmla="val 9411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67500" y="4229100"/>
            <a:ext cx="457200" cy="457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366000" y="4089400"/>
            <a:ext cx="368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智能健康管理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实时健康度检查，自动剔除不可用的死代理，确保代理服务高可用性。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477000" y="5207000"/>
            <a:ext cx="4699000" cy="889000"/>
          </a:xfrm>
          <a:prstGeom prst="roundRect">
            <a:avLst>
              <a:gd name="adj" fmla="val 11428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67500" y="5422900"/>
            <a:ext cx="457200" cy="4572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366000" y="5359400"/>
            <a:ext cx="368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弹性降级策略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代理池资源耗尽时，自动触发直连降级模式，保障任务不中断。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AI数据增强：8维度标准化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66800" y="190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标准化维度体系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2222500" cy="889000"/>
          </a:xfrm>
          <a:prstGeom prst="roundRect">
            <a:avLst>
              <a:gd name="adj" fmla="val 11428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400" y="28829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74800" y="27940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薪资标准化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统一薪酬口径与单位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016000" y="3746500"/>
            <a:ext cx="2222500" cy="889000"/>
          </a:xfrm>
          <a:prstGeom prst="roundRect">
            <a:avLst>
              <a:gd name="adj" fmla="val 11428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8400" y="39624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74800" y="38735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职位分类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覆盖14个核心行业大类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16000" y="4826000"/>
            <a:ext cx="2222500" cy="889000"/>
          </a:xfrm>
          <a:prstGeom prst="roundRect">
            <a:avLst>
              <a:gd name="adj" fmla="val 11428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8400" y="50419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74800" y="49530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行业识别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精准匹配国标行业代码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492500" y="2667000"/>
            <a:ext cx="2222500" cy="889000"/>
          </a:xfrm>
          <a:prstGeom prst="roundRect">
            <a:avLst>
              <a:gd name="adj" fmla="val 11428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44900" y="28829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051300" y="27940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技能提取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自动抽取核心硬性技能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492500" y="3746500"/>
            <a:ext cx="2222500" cy="889000"/>
          </a:xfrm>
          <a:prstGeom prst="roundRect">
            <a:avLst>
              <a:gd name="adj" fmla="val 11428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644900" y="39624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4051300" y="38735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学历规范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统一从高中到博士标准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3492500" y="4826000"/>
            <a:ext cx="2222500" cy="889000"/>
          </a:xfrm>
          <a:prstGeom prst="roundRect">
            <a:avLst>
              <a:gd name="adj" fmla="val 11428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644900" y="50419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4051300" y="49530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其他关键维度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经验年限 / 福利 / 工作模式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6223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6527800" y="190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底层技术保障能力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477000" y="2667000"/>
            <a:ext cx="2413000" cy="15240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67500" y="2921000"/>
            <a:ext cx="457200" cy="4572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302500" y="2857500"/>
            <a:ext cx="139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批量处理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利用大模型的泛化理解能力，实现海量非结构化数据的快速转化。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9017000" y="2667000"/>
            <a:ext cx="2413000" cy="15240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207500" y="2921000"/>
            <a:ext cx="457200" cy="4572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842500" y="2857500"/>
            <a:ext cx="139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稳定解析机制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内置3次自动重试逻辑，配合三层JSON严格校验，确保数据高可用。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6477000" y="4318000"/>
            <a:ext cx="2413000" cy="15240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67500" y="4572000"/>
            <a:ext cx="457200" cy="4572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7302500" y="4508500"/>
            <a:ext cx="139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高可靠架构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支持幂等UPSERT操作防止重复，提供实时处理进度的可视化推送。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9017000" y="4318000"/>
            <a:ext cx="2413000" cy="1524000"/>
          </a:xfrm>
          <a:prstGeom prst="roundRect">
            <a:avLst>
              <a:gd name="adj" fmla="val 6666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207500" y="4572000"/>
            <a:ext cx="457200" cy="4572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9842500" y="4508500"/>
            <a:ext cx="1397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灵活模型路由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支持多模型动态调度，针对不同行业和语言场景自动匹配最优模型。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智能分析：7维度可视化+AI报告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7大维度 · 数据可视化图表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1397000" cy="1016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3000" y="2819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2819400"/>
            <a:ext cx="8255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薪资分布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区间与中位数分析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2667000" y="2667000"/>
            <a:ext cx="1397000" cy="1016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94000" y="28194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175000" y="2819400"/>
            <a:ext cx="8255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城市分布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职位地域热度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318000" y="2667000"/>
            <a:ext cx="1397000" cy="1016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45000" y="28194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826000" y="2819400"/>
            <a:ext cx="8255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学历要求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门槛分布统计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1016000" y="3937000"/>
            <a:ext cx="2032000" cy="1016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43000" y="41656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87500" y="4089400"/>
            <a:ext cx="139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经验要求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1-3年/3-5年/5年+分布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3302000" y="3937000"/>
            <a:ext cx="2032000" cy="1016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429000" y="41656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3873500" y="4089400"/>
            <a:ext cx="139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行业分布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互联网/制造/金融等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1016000" y="5207000"/>
            <a:ext cx="2032000" cy="1016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3000" y="5435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587500" y="5359400"/>
            <a:ext cx="139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技能词云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高频关键词展示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3302000" y="5207000"/>
            <a:ext cx="2032000" cy="1016000"/>
          </a:xfrm>
          <a:prstGeom prst="roundRect">
            <a:avLst>
              <a:gd name="adj" fmla="val 10000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429000" y="54356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3873500" y="5359400"/>
            <a:ext cx="1397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工作模式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远程/混合/现场办公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6223000" y="1651000"/>
            <a:ext cx="5207000" cy="4699000"/>
          </a:xfrm>
          <a:prstGeom prst="roundRect">
            <a:avLst>
              <a:gd name="adj" fmla="val 3243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6477000" y="1905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驱动 · 智能洞察报告系统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477000" y="2667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67500" y="2921000"/>
            <a:ext cx="406400" cy="406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175500" y="2857500"/>
            <a:ext cx="152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多维度数据聚合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打破数据孤岛，支持跨数据源、跨部门的数据实时关联分析。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2" name="AutoShape 32"/>
          <p:cNvSpPr/>
          <p:nvPr/>
        </p:nvSpPr>
        <p:spPr>
          <a:xfrm>
            <a:off x="8953500" y="2667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144000" y="2921000"/>
            <a:ext cx="406400" cy="4064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9652000" y="2857500"/>
            <a:ext cx="152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结构化报告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利用大模型自动生成分析结论，将海量数据转化为可执行的商业洞察。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6477000" y="4445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6667500" y="4699000"/>
            <a:ext cx="406400" cy="4064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7175500" y="4635500"/>
            <a:ext cx="152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高性能前端渲染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集成 ECharts 实现秒级渲染，支持下钻、联动与多端适配展示。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8953500" y="4445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144000" y="4699000"/>
            <a:ext cx="406400" cy="4064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9652000" y="4635500"/>
            <a:ext cx="1524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全生命周期管理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支持历史报告归档、版本对比与定时自动推送，满足合规与审计要求。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07 自然语言查询：Text-to-SQL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22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1844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智能解析工作流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048000"/>
            <a:ext cx="2921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中文提问 → 意图精准解析</a:t>
            </a:r>
            <a:endParaRPr lang="en-US" sz="1100"/>
          </a:p>
          <a:p>
            <a:pPr indent="0" algn="ctr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Schema动态注入 → SQL自动生成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语义安全校验 → 数据库执行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33000"/>
              </a:lnSpc>
            </a:pPr>
            <a:r>
              <a:rPr lang="en-US" sz="13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 LLM 结果总结与美化</a:t>
            </a:r>
            <a:endParaRPr lang="en-US" sz="1300" b="1" i="0" u="none" strike="noStrike">
              <a:solidFill>
                <a:srgbClr val="3B82F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2225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21844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多维安全防护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35500" y="3048000"/>
            <a:ext cx="29210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127000" indent="0" algn="l">
              <a:lnSpc>
                <a:spcPct val="150000"/>
              </a:lnSpc>
              <a:defRPr/>
            </a:pPr>
            <a:r>
              <a:rPr lang="en-US" sz="1400" b="0" i="0" u="none" strike="noStrike">
                <a:solidFill>
                  <a:srgbClr val="10B98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✓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仅开放 SELECT 只读权限，确保数据不可写</a:t>
            </a:r>
            <a:endParaRPr lang="en-US" sz="1100"/>
          </a:p>
          <a:p>
            <a:pPr marL="12700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🛡️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实时拦截 DROP/ALTER 等高危操作关键词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F59E0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⚡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自动追加 LIMIT 500，防止全表扫描拖库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27000" indent="0" algn="l">
              <a:lnSpc>
                <a:spcPct val="150000"/>
              </a:lnSpc>
            </a:pPr>
            <a:r>
              <a:rPr lang="en-US" sz="1400" b="0" i="0" u="none" strike="noStrike">
                <a:solidFill>
                  <a:srgbClr val="8B5C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✂️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多语句自动截断，有效阻断 SQL 注入风险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2225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2184400"/>
            <a:ext cx="2286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典型查询场景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3175000"/>
            <a:ext cx="2921000" cy="1143000"/>
          </a:xfrm>
          <a:prstGeom prst="roundRect">
            <a:avLst>
              <a:gd name="adj" fmla="val 8888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445500" y="33655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Q: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请帮我查一下，目前北京地区，薪资在20K以上的Java开发岗位都有哪些？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18500" y="4572000"/>
            <a:ext cx="2921000" cy="1143000"/>
          </a:xfrm>
          <a:prstGeom prst="roundRect">
            <a:avLst>
              <a:gd name="adj" fmla="val 8888"/>
            </a:avLst>
          </a:prstGeom>
          <a:solidFill>
            <a:srgbClr val="ECFDF5">
              <a:alpha val="100000"/>
            </a:srgbClr>
          </a:solidFill>
          <a:ln w="12700" cap="flat" cmpd="sng">
            <a:solidFill>
              <a:srgbClr val="A7F3D0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8445500" y="4762500"/>
            <a:ext cx="2667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4785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Q: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对比分析一下全国主要新一线城市，前端开发工程师的平均薪资水平差异？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08 RAG语义搜索：pgvector + Ollama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核心流程 Process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94000"/>
            <a:ext cx="1460500" cy="1143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79500" y="3048000"/>
            <a:ext cx="133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增强数据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数据清洗与预处理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603500" y="2794000"/>
            <a:ext cx="1460500" cy="1143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667000" y="3048000"/>
            <a:ext cx="133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文本拼接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上下文信息整合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4191000" y="2794000"/>
            <a:ext cx="1460500" cy="1143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254500" y="3048000"/>
            <a:ext cx="133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向量化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Ollama生成768维向量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1016000" y="4191000"/>
            <a:ext cx="1460500" cy="1143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79500" y="4445000"/>
            <a:ext cx="133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向量存储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PostgreSQL + pgvector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2603500" y="4191000"/>
            <a:ext cx="1460500" cy="1143000"/>
          </a:xfrm>
          <a:prstGeom prst="roundRect">
            <a:avLst>
              <a:gd name="adj" fmla="val 6666"/>
            </a:avLst>
          </a:prstGeom>
          <a:solidFill>
            <a:srgbClr val="EFF6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2667000" y="4445000"/>
            <a:ext cx="133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索引加速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构建IVFFlat索引</a:t>
            </a:r>
            <a:endParaRPr lang="en-US" sz="11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4191000" y="4191000"/>
            <a:ext cx="1460500" cy="1143000"/>
          </a:xfrm>
          <a:prstGeom prst="roundRect">
            <a:avLst>
              <a:gd name="adj" fmla="val 6666"/>
            </a:avLst>
          </a:prstGeom>
          <a:solidFill>
            <a:srgbClr val="DBEA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4254500" y="4445000"/>
            <a:ext cx="1333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语义检索</a:t>
            </a:r>
            <a:endParaRPr lang="en-US" sz="1100"/>
          </a:p>
          <a:p>
            <a:pPr indent="0" algn="ctr">
              <a:lnSpc>
                <a:spcPct val="125000"/>
              </a:lnSpc>
            </a:pPr>
            <a:r>
              <a:rPr lang="en-US" sz="1100" b="0" i="0" u="none" strike="noStrike">
                <a:solidFill>
                  <a:srgbClr val="1E40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余弦相似度匹配TopN</a:t>
            </a:r>
            <a:endParaRPr lang="en-US" sz="1100" b="0" i="0" u="none" strike="noStrike">
              <a:solidFill>
                <a:srgbClr val="1E40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23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477000" y="203200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▍ 核心能力 Capabilities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477000" y="27940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67500" y="3048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7239000" y="29845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短查询扩展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自动补充上下文，解决关键词过少导致的搜索结果不准问题。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8953500" y="27940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4000" y="30480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9715500" y="29845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同义词映射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内置30+行业专业术语库，自动关联近义词，扩大召回范围。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477000" y="43815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67500" y="46355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7239000" y="45720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解决语义稀疏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克服传统关键词匹配的局限性，精准理解用户的潜在语义需求。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9" name="AutoShape 29"/>
          <p:cNvSpPr/>
          <p:nvPr/>
        </p:nvSpPr>
        <p:spPr>
          <a:xfrm>
            <a:off x="8953500" y="4381500"/>
            <a:ext cx="2349500" cy="1397000"/>
          </a:xfrm>
          <a:prstGeom prst="roundRect">
            <a:avLst>
              <a:gd name="adj" fmla="val 7272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44000" y="4635500"/>
            <a:ext cx="406400" cy="406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9715500" y="4572000"/>
            <a:ext cx="146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高精准 · 高速度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结合索引优化技术，在保证语义检索高精度的同时实现毫秒级响应。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09 LLM任务路由：多模型智能调度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四大任务类型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3F9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8400" y="29845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946400"/>
            <a:ext cx="165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Enrichment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数据增强任务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对成本控制极为敏感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492500" y="2794000"/>
            <a:ext cx="2349500" cy="1651000"/>
          </a:xfrm>
          <a:prstGeom prst="roundRect">
            <a:avLst>
              <a:gd name="adj" fmla="val 6153"/>
            </a:avLst>
          </a:prstGeom>
          <a:solidFill>
            <a:srgbClr val="F3F9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44900" y="2984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127500" y="2946400"/>
            <a:ext cx="165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Insights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洞察报告生成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需要模型具备强逻辑推理能力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1016000" y="4572000"/>
            <a:ext cx="2349500" cy="1524000"/>
          </a:xfrm>
          <a:prstGeom prst="roundRect">
            <a:avLst>
              <a:gd name="adj" fmla="val 6666"/>
            </a:avLst>
          </a:prstGeom>
          <a:solidFill>
            <a:srgbClr val="F3F9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68400" y="47625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4724400"/>
            <a:ext cx="165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Query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自然语言转SQL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依赖高精度的中文NLU能力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492500" y="4572000"/>
            <a:ext cx="2349500" cy="1524000"/>
          </a:xfrm>
          <a:prstGeom prst="roundRect">
            <a:avLst>
              <a:gd name="adj" fmla="val 6666"/>
            </a:avLst>
          </a:prstGeom>
          <a:solidFill>
            <a:srgbClr val="F3F9FF">
              <a:alpha val="100000"/>
            </a:srgbClr>
          </a:solidFill>
          <a:ln w="12700" cap="flat" cmpd="sng">
            <a:solidFill>
              <a:srgbClr val="BFDBFE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644900" y="4762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127500" y="4724400"/>
            <a:ext cx="165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Anti-crawl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反爬页面分类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对系统处理延迟有严格要求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6223000" y="1778000"/>
            <a:ext cx="5207000" cy="4445000"/>
          </a:xfrm>
          <a:prstGeom prst="roundRect">
            <a:avLst>
              <a:gd name="adj" fmla="val 342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8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6477000" y="2032000"/>
            <a:ext cx="4699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智能路由机制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2794000"/>
            <a:ext cx="4699000" cy="762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67500" y="29718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239000" y="2921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任务-模型动态匹配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：根据任务特征自动分配最适配的LLM模型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3683000"/>
            <a:ext cx="4699000" cy="762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67500" y="3860800"/>
            <a:ext cx="406400" cy="4064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7239000" y="3810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高性能缓存策略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：配置60秒短时缓存，减少重复路由计算开销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6477000" y="4572000"/>
            <a:ext cx="4699000" cy="762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67500" y="4749800"/>
            <a:ext cx="406400" cy="4064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239000" y="4699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兜底保障机制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：当无最佳匹配模型时，自动降级使用通用模型兜底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6477000" y="5461000"/>
            <a:ext cx="4699000" cy="762000"/>
          </a:xfrm>
          <a:prstGeom prst="roundRect">
            <a:avLst>
              <a:gd name="adj" fmla="val 10000"/>
            </a:avLst>
          </a:prstGeom>
          <a:solidFill>
            <a:srgbClr val="F9FAF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67500" y="5638800"/>
            <a:ext cx="406400" cy="4064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239000" y="5588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密钥安全管理</a:t>
            </a: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：API Key采用AES-256-GCM标准算法加密存储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10 技术栈与项目总结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159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1336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全栈技术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921000"/>
            <a:ext cx="2794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前端开发：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Vue3 · Element Plus · ECharts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后端服务：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Node.js · Express · TS · Puppeteer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数据存储：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PostgreSQL · pgvector · Redis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集成：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DeepSeek · GPT-4o · Ollama · GLM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45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1590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207000" y="21336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核心数据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2921000"/>
            <a:ext cx="2794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50000"/>
              </a:lnSpc>
              <a:defRPr/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60+ / 16 / 15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API接口 · 服务模块 · 数据库表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11 / 8 / 7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代理源 · 数据增强维度 · 分析图表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2000" b="1" i="0" u="none" strike="noStrike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 / 2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LLM 智能路由任务 · 自动化爬虫平台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444500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302000" cy="762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1590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890000" y="2133600"/>
            <a:ext cx="2286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82000" y="3048000"/>
            <a:ext cx="2794000" cy="292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50000"/>
              </a:lnSpc>
              <a:defRPr/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多平台支持 | 付费代理池</a:t>
            </a:r>
            <a:endParaRPr lang="en-US" sz="1100"/>
          </a:p>
          <a:p>
            <a:pPr indent="0" algn="ctr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消息队列中间件 | 分布式爬虫集群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大屏可视化看板 | PWA 应用化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ctr">
              <a:lnSpc>
                <a:spcPct val="150000"/>
              </a:lnSpc>
            </a:pPr>
            <a:r>
              <a:rPr lang="en-US" sz="13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智能定时采集 | 知识图谱构建</a:t>
            </a:r>
            <a:endParaRPr lang="en-US" sz="1300" b="0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032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7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谢谢观看！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 spc="1000">
                <a:solidFill>
                  <a:srgbClr val="3B82F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5207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期待与您交流 · 欢迎随时提问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3383</Words>
  <Application>WPS 演示</Application>
  <PresentationFormat/>
  <Paragraphs>352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lwq</cp:lastModifiedBy>
  <cp:revision>7</cp:revision>
  <dcterms:created xsi:type="dcterms:W3CDTF">2026-05-09T01:28:45Z</dcterms:created>
  <dcterms:modified xsi:type="dcterms:W3CDTF">2026-05-09T01:32:27Z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9660B5AA24B14A3EA78F3FF42CC4A316_12</vt:lpwstr>
  </property>
  <property fmtid="{D5CDD505-2E9C-101B-9397-08002B2CF9AE}" pid="3" name="KSOProductBuildVer">
    <vt:lpwstr>2052-12.1.0.25865</vt:lpwstr>
  </property>
</Properties>
</file>